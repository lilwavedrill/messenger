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280160"/>
            <a:ext cx="360000" cy="3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597280" y="1280160"/>
            <a:ext cx="360000" cy="3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097280" y="1780160"/>
            <a:ext cx="360000" cy="3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597280" y="1780160"/>
            <a:ext cx="360000" cy="3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8346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52525B"/>
                </a:solidFill>
                <a:latin typeface="Consolas"/>
              </a:rPr>
              <a:t>ОТЧЁТ ПО ПРАКТИКЕ  ·  КЕЙС №1  ·  VK EDUCATION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3246120"/>
            <a:ext cx="10058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200" b="1" i="0">
                <a:solidFill>
                  <a:srgbClr val="0A0A0A"/>
                </a:solidFill>
                <a:latin typeface="Segoe UI"/>
              </a:rPr>
              <a:t>Мессенджер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48056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0" i="0">
                <a:solidFill>
                  <a:srgbClr val="52525B"/>
                </a:solidFill>
                <a:latin typeface="Segoe UI"/>
              </a:rPr>
              <a:t>Реалтайм-обмен сообщениями, вложения, полнотекстовый поиск.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553212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НИТУ МИСИС  ·  группа БИВТ-24-1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5806440"/>
            <a:ext cx="10058400" cy="7315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Мамонтов Иван Андреевич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Кривонос Никита</a:t>
            </a:r>
          </a:p>
          <a:p>
            <a:pPr algn="l">
              <a:lnSpc>
                <a:spcPct val="11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Руководитель практики: Чумакова М. Ю.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ПЛАН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О чём расскажем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194560"/>
            <a:ext cx="512064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0">
                <a:solidFill>
                  <a:srgbClr val="0A0A0A"/>
                </a:solidFill>
                <a:latin typeface="Segoe UI"/>
              </a:rPr>
              <a:t>— Актуальность и задачи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0A0A0A"/>
                </a:solidFill>
                <a:latin typeface="Segoe UI"/>
              </a:rPr>
              <a:t>— Требования и обзор аналогов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0A0A0A"/>
                </a:solidFill>
                <a:latin typeface="Segoe UI"/>
              </a:rPr>
              <a:t>— Стек технологий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0A0A0A"/>
                </a:solidFill>
                <a:latin typeface="Segoe UI"/>
              </a:rPr>
              <a:t>— Архитектура системы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194560"/>
            <a:ext cx="512064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2000" b="0">
                <a:solidFill>
                  <a:srgbClr val="0A0A0A"/>
                </a:solidFill>
                <a:latin typeface="Segoe UI"/>
              </a:rPr>
              <a:t>— База данных и полнотекстовый поиск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0A0A0A"/>
                </a:solidFill>
                <a:latin typeface="Segoe UI"/>
              </a:rPr>
              <a:t>— Модель авторизации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0A0A0A"/>
                </a:solidFill>
                <a:latin typeface="Segoe UI"/>
              </a:rPr>
              <a:t>— Интерфейс приложения</a:t>
            </a:r>
          </a:p>
          <a:p>
            <a:pPr algn="l">
              <a:lnSpc>
                <a:spcPct val="160000"/>
              </a:lnSpc>
            </a:pPr>
            <a:r>
              <a:rPr sz="2000" b="0">
                <a:solidFill>
                  <a:srgbClr val="0A0A0A"/>
                </a:solidFill>
                <a:latin typeface="Segoe UI"/>
              </a:rPr>
              <a:t>— Тестирование и результаты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02 /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01  ·  АКТУАЛЬНОСТЬ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Почему это интересно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194560"/>
            <a:ext cx="3566160" cy="16459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194560"/>
            <a:ext cx="35000" cy="16459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450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A0A0A"/>
                </a:solidFill>
                <a:latin typeface="Segoe UI"/>
              </a:rPr>
              <a:t>100+ млрд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306324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сообщений в день по всему миру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2194560"/>
            <a:ext cx="3566160" cy="16459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17720" y="2194560"/>
            <a:ext cx="35000" cy="16459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0" y="2450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A0A0A"/>
                </a:solidFill>
                <a:latin typeface="Segoe UI"/>
              </a:rPr>
              <a:t>&lt; 200 мс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306324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цель по скорости доставки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2194560"/>
            <a:ext cx="3566160" cy="16459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12480" y="2194560"/>
            <a:ext cx="35000" cy="16459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450592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800" b="1" i="0">
                <a:solidFill>
                  <a:srgbClr val="0A0A0A"/>
                </a:solidFill>
                <a:latin typeface="Segoe UI"/>
              </a:rPr>
              <a:t>24 / 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306324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круглосуточная доступность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297680"/>
            <a:ext cx="10515600" cy="1828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За внешней простотой чата стоят нетривиальные задачи: минимальная задержка,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устойчивость к обрывам сети, защита от дубликатов, быстрый поиск по истории.</a:t>
            </a:r>
          </a:p>
          <a:p>
            <a:pPr algn="l">
              <a:lnSpc>
                <a:spcPct val="150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Разработка учебного мессенджера позволяет разобрать эти задачи на практике.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03 /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02  ·  ЦЕЛЬ И ЗАДАЧИ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Что должно получиться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ЦЕЛЬ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68880"/>
            <a:ext cx="1051560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>
                <a:solidFill>
                  <a:srgbClr val="0A0A0A"/>
                </a:solidFill>
                <a:latin typeface="Segoe UI"/>
              </a:rPr>
              <a:t>Спроектировать и реализовать рабочий прототип мессенджера, отвечающий</a:t>
            </a:r>
          </a:p>
          <a:p>
            <a:pPr algn="l">
              <a:lnSpc>
                <a:spcPct val="135000"/>
              </a:lnSpc>
            </a:pPr>
            <a:r>
              <a:rPr sz="1700" b="0">
                <a:solidFill>
                  <a:srgbClr val="0A0A0A"/>
                </a:solidFill>
                <a:latin typeface="Segoe UI"/>
              </a:rPr>
              <a:t>функциональным и нефункциональным требованиям технического задания.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03320"/>
            <a:ext cx="10515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ЗАДАЧИ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069080"/>
            <a:ext cx="105156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— проанализировать предметную область и требования ТЗ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— спроектировать схему БД и API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— реализовать серверную часть на Python + FastAPI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— организовать реалтайм-обмен через WebSocket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— построить авторизацию на JWT + refresh с ротацией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— разработать веб-клиент</a:t>
            </a:r>
          </a:p>
          <a:p>
            <a:pPr algn="l">
              <a:lnSpc>
                <a:spcPct val="135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— покрыть основные сценарии автотестами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04 /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03  ·  ТРЕБОВАНИЯ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11 функциональных + 6 нефункциональных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66FF"/>
                </a:solidFill>
                <a:latin typeface="Consolas"/>
              </a:rPr>
              <a:t>ОБЯЗАТЕЛЬНЫЕ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14600"/>
            <a:ext cx="5486400" cy="3200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регистрация и вход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личные и групповые чаты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реалтайм-обмен сообщениями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история с пагинацией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управление участниками (owner)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поиск по сообщениям чата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разграничение ролей внутри чата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0" y="2194560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66FF"/>
                </a:solidFill>
                <a:latin typeface="Consolas"/>
              </a:rPr>
              <a:t>ДОПОЛНИТЕЛЬНО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514600"/>
            <a:ext cx="5486400" cy="3200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статусы доставки (sent / delivered / read)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идемпотентность через client_msg_id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вложения через S3-совместимое хранилище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refresh-токены JWT с ротацией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аудит действий пользователей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5623560"/>
            <a:ext cx="11247120" cy="6400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5687568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52525B"/>
                </a:solidFill>
                <a:latin typeface="Consolas"/>
              </a:rPr>
              <a:t>НЕФУНКЦИОНАЛЬНЫЕ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5943600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0A0A0A"/>
                </a:solidFill>
                <a:latin typeface="Segoe UI"/>
              </a:rPr>
              <a:t>отзывчивость &lt; 200 мс  ·  надёжность  ·  безопасность  ·  порядок  ·  наблюдаемость  ·  совместимость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05 /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04  ·  ПОХОЖИЕ СЕРВИСЫ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На что мы ориентировались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28600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A0A0A"/>
                </a:solidFill>
                <a:latin typeface="Segoe UI"/>
              </a:rPr>
              <a:t>Telegram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2313432"/>
            <a:ext cx="8503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2525B"/>
                </a:solidFill>
                <a:latin typeface="Segoe UI"/>
              </a:rPr>
              <a:t>личные и групповые чаты, история, поиск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92608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A0A0A"/>
                </a:solidFill>
                <a:latin typeface="Segoe UI"/>
              </a:rPr>
              <a:t>WhatsApp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953512"/>
            <a:ext cx="8503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2525B"/>
                </a:solidFill>
                <a:latin typeface="Segoe UI"/>
              </a:rPr>
              <a:t>мобильный обмен, статусы прочтения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56616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A0A0A"/>
                </a:solidFill>
                <a:latin typeface="Segoe UI"/>
              </a:rPr>
              <a:t>Discord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66160" y="3593592"/>
            <a:ext cx="8503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2525B"/>
                </a:solidFill>
                <a:latin typeface="Segoe UI"/>
              </a:rPr>
              <a:t>групповые каналы, живая переписка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20624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A0A0A"/>
                </a:solidFill>
                <a:latin typeface="Segoe UI"/>
              </a:rPr>
              <a:t>VK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4233672"/>
            <a:ext cx="8503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2525B"/>
                </a:solidFill>
                <a:latin typeface="Segoe UI"/>
              </a:rPr>
              <a:t>web-версия и мобильное приложение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846320"/>
            <a:ext cx="25603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0A0A0A"/>
                </a:solidFill>
                <a:latin typeface="Segoe UI"/>
              </a:rPr>
              <a:t>Slack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66160" y="4873752"/>
            <a:ext cx="8503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52525B"/>
                </a:solidFill>
                <a:latin typeface="Segoe UI"/>
              </a:rPr>
              <a:t>рабочие чаты, роли и права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5715000"/>
            <a:ext cx="1124712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Мы посмотрели, какие функции есть у популярных мессенджеров,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и собрали свой прототип с тем же набором базовых возможностей.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06 /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05  ·  СТЕК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Технологии и почему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148840"/>
            <a:ext cx="5577840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148840"/>
            <a:ext cx="35000" cy="9601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22860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Segoe UI"/>
              </a:rPr>
              <a:t>Python 3.13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26517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Segoe UI"/>
              </a:rPr>
              <a:t>серверный язык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60" y="2148840"/>
            <a:ext cx="5577840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537960" y="2148840"/>
            <a:ext cx="35000" cy="9601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12280" y="22860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Segoe UI"/>
              </a:rPr>
              <a:t>FastAPI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26517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Segoe UI"/>
              </a:rPr>
              <a:t>REST + WebSocket в одном процессе, авто-OpenAPI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246120"/>
            <a:ext cx="5577840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246120"/>
            <a:ext cx="35000" cy="9601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97280" y="33832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Segoe UI"/>
              </a:rPr>
              <a:t>SQLAlchemy 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37490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Segoe UI"/>
              </a:rPr>
              <a:t>ORM, синхронный режим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537960" y="3246120"/>
            <a:ext cx="5577840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537960" y="3246120"/>
            <a:ext cx="35000" cy="9601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12280" y="338328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Segoe UI"/>
              </a:rPr>
              <a:t>PostgreSQL 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12280" y="37490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Segoe UI"/>
              </a:rPr>
              <a:t>транзакции, JSONB, GIN-индексы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343400"/>
            <a:ext cx="5577840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960" y="4343400"/>
            <a:ext cx="35000" cy="9601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97280" y="44805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Segoe UI"/>
              </a:rPr>
              <a:t>MinIO (S3)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7280" y="484632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Segoe UI"/>
              </a:rPr>
              <a:t>объектное хранилище для вложений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37960" y="4343400"/>
            <a:ext cx="5577840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537960" y="4343400"/>
            <a:ext cx="35000" cy="9601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12280" y="448056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Segoe UI"/>
              </a:rPr>
              <a:t>bcrypt + JWT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12280" y="484632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Segoe UI"/>
              </a:rPr>
              <a:t>хэши паролей, access + refresh токены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5440680"/>
            <a:ext cx="5577840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22960" y="5440680"/>
            <a:ext cx="35000" cy="9601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55778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Segoe UI"/>
              </a:rPr>
              <a:t>pytest + httpx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9436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Segoe UI"/>
              </a:rPr>
              <a:t>автотесты API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7960" y="5440680"/>
            <a:ext cx="5577840" cy="96012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5440680"/>
            <a:ext cx="35000" cy="96012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812280" y="557784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0A0A0A"/>
                </a:solidFill>
                <a:latin typeface="Segoe UI"/>
              </a:rPr>
              <a:t>HTML + CSS + JS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12280" y="5943600"/>
            <a:ext cx="5212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Segoe UI"/>
              </a:rPr>
              <a:t>клиент без сборщика и без фреймворков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07 /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06  ·  АРХИТЕКТУРА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Трёхзвенная схема + S3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468880"/>
            <a:ext cx="2926080" cy="128016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7889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0A0A0A"/>
                </a:solidFill>
                <a:latin typeface="Segoe UI"/>
              </a:rPr>
              <a:t>Клиент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1546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2525B"/>
                </a:solidFill>
                <a:latin typeface="Consolas"/>
              </a:rPr>
              <a:t>HTML + CSS + JS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17720" y="2468880"/>
            <a:ext cx="2926080" cy="1280160"/>
          </a:xfrm>
          <a:prstGeom prst="rect">
            <a:avLst/>
          </a:prstGeom>
          <a:solidFill>
            <a:srgbClr val="F5F8FF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27889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0A0A0A"/>
                </a:solidFill>
                <a:latin typeface="Segoe UI"/>
              </a:rPr>
              <a:t>Сервер приложения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1546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2525B"/>
                </a:solidFill>
                <a:latin typeface="Consolas"/>
              </a:rPr>
              <a:t>FastAPI + WS Hub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412480" y="2468880"/>
            <a:ext cx="2926080" cy="128016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0" y="278892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0A0A0A"/>
                </a:solidFill>
                <a:latin typeface="Segoe UI"/>
              </a:rPr>
              <a:t>PostgreSQL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315468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2525B"/>
                </a:solidFill>
                <a:latin typeface="Consolas"/>
              </a:rPr>
              <a:t>8 таблиц + GIN FTS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292608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2525B"/>
                </a:solidFill>
                <a:latin typeface="Consolas"/>
              </a:rPr>
              <a:t>REST / WS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43800" y="2926080"/>
            <a:ext cx="868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2525B"/>
                </a:solidFill>
                <a:latin typeface="Consolas"/>
              </a:rPr>
              <a:t>SQLAlchemy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617720" y="4206240"/>
            <a:ext cx="2926080" cy="128016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617720" y="452628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0A0A0A"/>
                </a:solidFill>
                <a:latin typeface="Segoe UI"/>
              </a:rPr>
              <a:t>MinIO (S3)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892040"/>
            <a:ext cx="29260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2525B"/>
                </a:solidFill>
                <a:latin typeface="Consolas"/>
              </a:rPr>
              <a:t>вложения + аватары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23560" y="38862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52525B"/>
                </a:solidFill>
                <a:latin typeface="Consolas"/>
              </a:rPr>
              <a:t>boto3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5806440"/>
            <a:ext cx="1124712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Гибрид: сообщение отправляется REST-запросом (транзакция в БД), затем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рассылается через WebSocket подписчикам чата. Даже при обрыве WS ничего не теряется.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08 /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07  ·  БАЗА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Что и где мы храним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Пользователи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222199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логин, пароль (в виде хэша), имя, аватар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19456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Чаты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0" y="222199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личные и групповые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7432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Участники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277063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кто в каком чате и с какой ролью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74320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Сообщения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277063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текст, автор, время, чат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29184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Статусы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8960" y="331927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отправлено / доставлено / прочитано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9184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Вложения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331927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файлы и картинки, ссылка на S3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8404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Токены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108960" y="386791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для входа и обновления сессии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3840480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Журнал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778240" y="386791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кто что делал в системе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1">
                <a:solidFill>
                  <a:srgbClr val="52525B"/>
                </a:solidFill>
                <a:latin typeface="Segoe UI"/>
              </a:rPr>
              <a:t>Всего 8 таблиц в PostgreSQL. Полная схема — в отчёте (приложение А).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09 /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08  ·  ПОИСК ПО СООБЩЕНИЯМ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Умный поиск на русском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1097280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Поиск устроен так, что находит сообщения даже в разных формах слова.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Например, по запросу «обсуждать» найдутся сообщения со словами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«обсуждаю», «обсуждали», «обсуждать» — то есть по любой словоформе.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4023360"/>
            <a:ext cx="3566160" cy="15544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42062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Запрос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61772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A0A0A"/>
                </a:solidFill>
                <a:latin typeface="Segoe UI"/>
              </a:rPr>
              <a:t>обсуждать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4023360"/>
            <a:ext cx="3566160" cy="155448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17720" y="4023360"/>
            <a:ext cx="35000" cy="155448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92040" y="42062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Тоже найдёт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892040" y="461772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обсуждаю, обсуждали, обсуждаем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4023360"/>
            <a:ext cx="3566160" cy="1554480"/>
          </a:xfrm>
          <a:prstGeom prst="rect">
            <a:avLst/>
          </a:prstGeom>
          <a:solidFill>
            <a:srgbClr val="F5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4206240"/>
            <a:ext cx="3200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Как это работает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4617720"/>
            <a:ext cx="3200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0A0A0A"/>
                </a:solidFill>
                <a:latin typeface="Segoe UI"/>
              </a:rPr>
              <a:t>русский словарь PostgreSQL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10 /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09  ·  ВХОД И БЕЗОПАСНОСТЬ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Как защищены аккаунты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94560"/>
            <a:ext cx="10972800" cy="13716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Пользователь вводит логин и пароль — сервер выдаёт токен, с которым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клиент ходит по остальным запросам. Пароли никогда не хранятся в открытом</a:t>
            </a:r>
          </a:p>
          <a:p>
            <a:pPr algn="l">
              <a:lnSpc>
                <a:spcPct val="140000"/>
              </a:lnSpc>
            </a:pPr>
            <a:r>
              <a:rPr sz="1500" b="0">
                <a:solidFill>
                  <a:srgbClr val="0A0A0A"/>
                </a:solidFill>
                <a:latin typeface="Segoe UI"/>
              </a:rPr>
              <a:t>виде — только необратимо зашифрованными.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79476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ЧТО СДЕЛАЛИ ДЛЯ БЕЗОПАСНОСТИ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60520"/>
            <a:ext cx="109728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пароли хранятся в зашифрованном виде (bcrypt)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каждый запрос требует действующий токен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токен обновляется автоматически без повторного ввода пароля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выход из аккаунта отзывает все токены на сервере</a:t>
            </a:r>
          </a:p>
          <a:p>
            <a:pPr algn="l">
              <a:lnSpc>
                <a:spcPct val="140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в системе есть три роли: читатель, участник, владелец чата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11 /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10  ·  ИНТЕРФЕЙС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Скриншоты работающего клиента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103120"/>
            <a:ext cx="5577840" cy="192024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01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312" y="2240280"/>
            <a:ext cx="1251135" cy="1417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22960" y="370332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2525B"/>
                </a:solidFill>
                <a:latin typeface="Consolas"/>
              </a:rPr>
              <a:t>Форма входа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37960" y="2103120"/>
            <a:ext cx="5577840" cy="192024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02-m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3451" y="2240280"/>
            <a:ext cx="2946857" cy="14173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537960" y="370332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2525B"/>
                </a:solidFill>
                <a:latin typeface="Consolas"/>
              </a:rPr>
              <a:t>Основной экран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343400"/>
            <a:ext cx="5577840" cy="192024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3-profi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62910" y="4480560"/>
            <a:ext cx="1297940" cy="1417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22960" y="594360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2525B"/>
                </a:solidFill>
                <a:latin typeface="Consolas"/>
              </a:rPr>
              <a:t>Профиль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537960" y="4343400"/>
            <a:ext cx="5577840" cy="1920240"/>
          </a:xfrm>
          <a:prstGeom prst="rect">
            <a:avLst/>
          </a:prstGeom>
          <a:solidFill>
            <a:srgbClr val="F5F5F5"/>
          </a:solidFill>
          <a:ln w="9525">
            <a:solidFill>
              <a:srgbClr val="E5E5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04-new-cha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11496" y="4480560"/>
            <a:ext cx="1430767" cy="14173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537960" y="5943600"/>
            <a:ext cx="5577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0">
                <a:solidFill>
                  <a:srgbClr val="52525B"/>
                </a:solidFill>
                <a:latin typeface="Consolas"/>
              </a:rPr>
              <a:t>Создание группы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12 /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12  ·  КАК МЫ РАБОТАЛИ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Этапы проекта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221992"/>
            <a:ext cx="384048" cy="384048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258568"/>
            <a:ext cx="3840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219456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Разобрали ТЗ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221992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выделили обязательные и дополнительные функции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788920"/>
            <a:ext cx="384048" cy="384048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825496"/>
            <a:ext cx="3840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2761488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Спроектировали схему БД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0" y="278892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8 таблиц, связи между ними, ER-диаграмма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355848"/>
            <a:ext cx="384048" cy="384048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392424"/>
            <a:ext cx="3840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7320" y="3328416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Написали сервер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3355848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регистрация, чаты, сообщения, WebSocket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60" y="3922776"/>
            <a:ext cx="384048" cy="384048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959352"/>
            <a:ext cx="3840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17320" y="3895344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Сделали клиент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3922776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одностраничное веб-приложение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22960" y="4489704"/>
            <a:ext cx="384048" cy="384048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60" y="4526280"/>
            <a:ext cx="3840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17320" y="446227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Добавили доп. функции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0" y="4489704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статусы прочтения, вложения, поиск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056632"/>
            <a:ext cx="384048" cy="384048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2960" y="5093208"/>
            <a:ext cx="3840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17320" y="50292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Покрыли тестами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0" y="5056632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автоматические и ручные проверки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5623560"/>
            <a:ext cx="384048" cy="384048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5660136"/>
            <a:ext cx="3840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417320" y="5596128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0A0A0A"/>
                </a:solidFill>
                <a:latin typeface="Segoe UI"/>
              </a:rPr>
              <a:t>Оформили документацию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0" y="5623560"/>
            <a:ext cx="6400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отчёт по ГОСТ, скриншоты, видеодемо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14 /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11  ·  ТЕСТИРОВАНИЕ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Автотесты + ручные сценарии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2148840"/>
            <a:ext cx="3566160" cy="155448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2960" y="2148840"/>
            <a:ext cx="35000" cy="155448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237744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0A0A0A"/>
                </a:solidFill>
                <a:latin typeface="Segoe UI"/>
              </a:rPr>
              <a:t>7 /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97180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pytest-тестов проходят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2148840"/>
            <a:ext cx="3566160" cy="155448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617720" y="2148840"/>
            <a:ext cx="35000" cy="155448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937760" y="237744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0A0A0A"/>
                </a:solidFill>
                <a:latin typeface="Segoe UI"/>
              </a:rPr>
              <a:t>4.5 сек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37760" y="297180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полный прогон suite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12480" y="2148840"/>
            <a:ext cx="3566160" cy="1554480"/>
          </a:xfrm>
          <a:prstGeom prst="rect">
            <a:avLst/>
          </a:prstGeom>
          <a:solidFill>
            <a:srgbClr val="F5F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412480" y="2148840"/>
            <a:ext cx="35000" cy="155448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732520" y="2377440"/>
            <a:ext cx="3200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0A0A0A"/>
                </a:solidFill>
                <a:latin typeface="Segoe UI"/>
              </a:rPr>
              <a:t>6 сцен.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32520" y="297180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0" i="0">
                <a:solidFill>
                  <a:srgbClr val="52525B"/>
                </a:solidFill>
                <a:latin typeface="Segoe UI"/>
              </a:rPr>
              <a:t>ручных end-to-end проверок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06908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ЧТО ПОКРЫТО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434840"/>
            <a:ext cx="10972800" cy="19202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— регистрация и вход по логину/паролю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— неверный пароль → 401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— создание чата, отправка, история, поиск (со стеммингом)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— ограничение прав: reader не может отправлять — 403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— ротация refresh: старый refresh становится недействительным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0A0A0A"/>
                </a:solidFill>
                <a:latin typeface="Segoe UI"/>
              </a:rPr>
              <a:t>— идемпотентность: повтор с тем же client_msg_id не создаёт дубликат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4652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52525B"/>
                </a:solidFill>
                <a:latin typeface="Consolas"/>
              </a:rPr>
              <a:t>MESSENGER  ·  VK Education / Case #1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61320" y="6446520"/>
            <a:ext cx="1554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52525B"/>
                </a:solidFill>
                <a:latin typeface="Consolas"/>
              </a:rPr>
              <a:t>13 /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2920" y="45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2920" y="687200"/>
            <a:ext cx="160000" cy="160000"/>
          </a:xfrm>
          <a:prstGeom prst="rect">
            <a:avLst/>
          </a:prstGeom>
          <a:solidFill>
            <a:srgbClr val="006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384048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12  ·  РЕЗУЛЬТАТЫ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86868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200" b="1" i="0">
                <a:solidFill>
                  <a:srgbClr val="0A0A0A"/>
                </a:solidFill>
                <a:latin typeface="Segoe UI"/>
              </a:rPr>
              <a:t>Что готово и что дальше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1691640"/>
            <a:ext cx="1115568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1488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66FF"/>
                </a:solidFill>
                <a:latin typeface="Consolas"/>
              </a:rPr>
              <a:t>ГОТОВО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14600"/>
            <a:ext cx="10972800" cy="22860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все 7 обязательных функциональных требований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4 дополнительных (статусы, вложения, refresh, идемпотентность)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полнотекстовый поиск на GIN + русской морфологии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автоматизированные тесты (7 / 7 проходят)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отчёт по ГОСТ 7.32-2017, ER-диаграмма, видеодемонстрация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61772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52525B"/>
                </a:solidFill>
                <a:latin typeface="Consolas"/>
              </a:rPr>
              <a:t>НАПРАВЛЕНИЯ РАЗВИТИЯ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4983480"/>
            <a:ext cx="10972800" cy="146304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внешний брокер (Redis Streams / NATS) для горизонтального масштабирования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оффлайн-уведомления, редактирование и удаление сообщений</a:t>
            </a:r>
          </a:p>
          <a:p>
            <a:pPr algn="l">
              <a:lnSpc>
                <a:spcPct val="145000"/>
              </a:lnSpc>
            </a:pPr>
            <a:r>
              <a:rPr sz="1400" b="0">
                <a:solidFill>
                  <a:srgbClr val="0A0A0A"/>
                </a:solidFill>
                <a:latin typeface="Segoe UI"/>
              </a:rPr>
              <a:t>— E2E-шифрование, голосовые сообщения, WebRTC-видеозвонки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6309360"/>
            <a:ext cx="11247120" cy="9525"/>
          </a:xfrm>
          <a:prstGeom prst="rect">
            <a:avLst/>
          </a:prstGeom>
          <a:solidFill>
            <a:srgbClr val="E5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6400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0066FF"/>
                </a:solidFill>
                <a:latin typeface="Consolas"/>
              </a:rPr>
              <a:t>github.com/lilwavedrill/messenger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