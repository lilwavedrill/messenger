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280160"/>
            <a:ext cx="360000" cy="3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97280" y="1280160"/>
            <a:ext cx="360000" cy="3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1780160"/>
            <a:ext cx="360000" cy="3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97280" y="1780160"/>
            <a:ext cx="360000" cy="3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834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525B"/>
                </a:solidFill>
                <a:latin typeface="Consolas"/>
              </a:rPr>
              <a:t>ОТЧЁТ ПО ПРАКТИКЕ  ·  КЕЙС №1  ·  VK EDUCATION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0A0A0A"/>
                </a:solidFill>
                <a:latin typeface="Segoe UI"/>
              </a:rPr>
              <a:t>Мессенджер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480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52525B"/>
                </a:solidFill>
                <a:latin typeface="Segoe UI"/>
              </a:rPr>
              <a:t>Реалтайм-обмен сообщениями, вложения, полнотекстовый поиск.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5321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НИТУ МИСИС  ·  группа БИВТ-24-1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806440"/>
            <a:ext cx="1005840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Мамонтов Иван Андреевич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Кривонос Никита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Руководитель практики: Чумакова М. Ю.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ПЛАН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О чём расскажем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512064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Актуальность и задачи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Требования и обзор аналогов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Стек технологий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Архитектура системы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194560"/>
            <a:ext cx="512064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База данных и полнотекстовый поиск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Модель авторизации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Интерфейс приложения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Тестирование и результаты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01  ·  АКТУАЛЬНОСТЬ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Почему это интересно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194560"/>
            <a:ext cx="3566160" cy="1645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194560"/>
            <a:ext cx="35000" cy="16459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450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A0A0A"/>
                </a:solidFill>
                <a:latin typeface="Segoe UI"/>
              </a:rPr>
              <a:t>100+ млрд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06324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сообщений в день через мессенджеры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2194560"/>
            <a:ext cx="3566160" cy="1645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17720" y="2194560"/>
            <a:ext cx="35000" cy="16459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2450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A0A0A"/>
                </a:solidFill>
                <a:latin typeface="Segoe UI"/>
              </a:rPr>
              <a:t>&lt; 200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306324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цель по задержке доставки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2194560"/>
            <a:ext cx="3566160" cy="1645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12480" y="2194560"/>
            <a:ext cx="35000" cy="16459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450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A0A0A"/>
                </a:solidFill>
                <a:latin typeface="Segoe UI"/>
              </a:rPr>
              <a:t>3 транспорта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306324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WebSocket, gRPC, long polling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29768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За внешней простотой чата стоят нетривиальные задачи: минимальная задержка,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устойчивость к обрывам сети, защита от дубликатов, быстрый поиск по истории.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Разработка учебного мессенджера позволяет разобрать эти задачи на практике.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02  ·  ЦЕЛЬ И ЗАДАЧИ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Что должно получиться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ЦЕЛЬ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68880"/>
            <a:ext cx="1051560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0A0A0A"/>
                </a:solidFill>
                <a:latin typeface="Segoe UI"/>
              </a:rPr>
              <a:t>Спроектировать и реализовать рабочий прототип мессенджера, отвечающий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0A0A0A"/>
                </a:solidFill>
                <a:latin typeface="Segoe UI"/>
              </a:rPr>
              <a:t>функциональным и нефункциональным требованиям технического задания.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69080"/>
            <a:ext cx="105156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проанализировать предметную область и требования ТЗ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спроектировать схему БД и API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реализовать серверную часть на Python + FastAPI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организовать реалтайм-обмен через WebSocket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построить авторизацию на JWT + refresh с ротацией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разработать веб-клиент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покрыть основные сценарии автотестами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03  ·  ТРЕБОВАНИЯ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11 функциональных + 6 нефункциональных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66FF"/>
                </a:solidFill>
                <a:latin typeface="Consolas"/>
              </a:rPr>
              <a:t>ОБЯЗАТЕЛЬНЫЕ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14600"/>
            <a:ext cx="5486400" cy="3200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регистрация и вход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личные и групповые чаты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реалтайм-обмен сообщениями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история с пагинацией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управление участниками (owner)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поиск по сообщениям чата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разграничение ролей внутри чата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945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66FF"/>
                </a:solidFill>
                <a:latin typeface="Consolas"/>
              </a:rPr>
              <a:t>ДОПОЛНИТЕЛЬНО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514600"/>
            <a:ext cx="5486400" cy="3200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статусы доставки (sent / delivered / read)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идемпотентность через client_msg_id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вложения через S3-совместимое хранилище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refresh-токены JWT с ротацией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аудит действий пользователей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623560"/>
            <a:ext cx="11247120" cy="6400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68756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2525B"/>
                </a:solidFill>
                <a:latin typeface="Consolas"/>
              </a:rPr>
              <a:t>НЕФУНКЦИОНАЛЬНЫЕ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Segoe UI"/>
              </a:rPr>
              <a:t>отзывчивость &lt; 200 мс  ·  надёжность  ·  безопасность  ·  порядок  ·  наблюдаемость  ·  совместимость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04  ·  ОБЗОР АНАЛОГОВ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Что делают взрослые, а что мы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A0A0A"/>
                </a:solidFill>
                <a:latin typeface="Segoe UI"/>
              </a:rPr>
              <a:t>WhatsApp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148840"/>
            <a:ext cx="8778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2525B"/>
                </a:solidFill>
                <a:latin typeface="Segoe UI"/>
              </a:rPr>
              <a:t>XMPP-подобный протокол, Signal E2E-шифрование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5176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A0A0A"/>
                </a:solidFill>
                <a:latin typeface="Segoe UI"/>
              </a:rPr>
              <a:t>Telegram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651760"/>
            <a:ext cx="8778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2525B"/>
                </a:solidFill>
                <a:latin typeface="Segoe UI"/>
              </a:rPr>
              <a:t>собственный MTProto, распределённые дата-центры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1546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A0A0A"/>
                </a:solidFill>
                <a:latin typeface="Segoe UI"/>
              </a:rPr>
              <a:t>Discord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154680"/>
            <a:ext cx="8778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2525B"/>
                </a:solidFill>
                <a:latin typeface="Segoe UI"/>
              </a:rPr>
              <a:t>интенсивно использует WebSocket, ориентация на голос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5760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A0A0A"/>
                </a:solidFill>
                <a:latin typeface="Segoe UI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657600"/>
            <a:ext cx="8778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2525B"/>
                </a:solidFill>
                <a:latin typeface="Segoe UI"/>
              </a:rPr>
              <a:t>гибрид REST + WebSocket — та же схема, что у нас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6052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A0A0A"/>
                </a:solidFill>
                <a:latin typeface="Segoe UI"/>
              </a:rPr>
              <a:t>VK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4160520"/>
            <a:ext cx="8778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2525B"/>
                </a:solidFill>
                <a:latin typeface="Segoe UI"/>
              </a:rPr>
              <a:t>long polling в мобильных, WebSocket в web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66344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A0A0A"/>
                </a:solidFill>
                <a:latin typeface="Segoe UI"/>
              </a:rPr>
              <a:t>Matrix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4663440"/>
            <a:ext cx="8778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2525B"/>
                </a:solidFill>
                <a:latin typeface="Segoe UI"/>
              </a:rPr>
              <a:t>открытый федеративный протокол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486400"/>
            <a:ext cx="5486400" cy="82296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5595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0066FF"/>
                </a:solidFill>
                <a:latin typeface="Consolas"/>
              </a:rPr>
              <a:t>ВЗЯЛИ ЗА ОСНОВУ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815584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Segoe UI"/>
              </a:rPr>
              <a:t>гибрид REST + WebSocket, роли в чате, идемпотентность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0" y="5486400"/>
            <a:ext cx="5486400" cy="82296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55595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СОЗНАТЕЛЬНО ОТКАЗАЛИСЬ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5815584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Segoe UI"/>
              </a:rPr>
              <a:t>E2E-шифрование, федерация, брокер сообщений, шардирование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05  ·  СТЕК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Технологии и почему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14884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14884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860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Python 3.13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517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серверный язык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60" y="214884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37960" y="214884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22860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FastAPI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26517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REST + WebSocket в одном процессе, авто-OpenAPI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24612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24612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3832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SQLAlchemy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7490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ORM, синхронный режим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7960" y="324612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37960" y="324612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3832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PostgreSQL 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37490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транзакции, JSONB, GIN-индексы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34340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434340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44805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MinIO (S3)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484632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объектное хранилище для вложений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37960" y="434340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37960" y="434340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44805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bcrypt + JWT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484632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хэши паролей, access + refresh токены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544068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2960" y="544068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55778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pytest + httpx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9436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автотесты API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60" y="544068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544068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12280" y="55778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HTML + CSS + JS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80" y="59436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клиент без сборщика и без фреймворков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06  ·  АРХИТЕКТУРА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Трёхзвенная схема + S3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468880"/>
            <a:ext cx="2926080" cy="12801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7889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A0A0A"/>
                </a:solidFill>
                <a:latin typeface="Segoe UI"/>
              </a:rPr>
              <a:t>Клиент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546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HTML + CSS + JS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17720" y="2468880"/>
            <a:ext cx="2926080" cy="1280160"/>
          </a:xfrm>
          <a:prstGeom prst="rect">
            <a:avLst/>
          </a:prstGeom>
          <a:solidFill>
            <a:srgbClr val="F5F8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7889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A0A0A"/>
                </a:solidFill>
                <a:latin typeface="Segoe UI"/>
              </a:rPr>
              <a:t>Сервер приложения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1546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FastAPI + WS Hub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2468880"/>
            <a:ext cx="2926080" cy="12801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7889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A0A0A"/>
                </a:solidFill>
                <a:latin typeface="Segoe UI"/>
              </a:rPr>
              <a:t>PostgreSQL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1546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8 таблиц + GIN 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92608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REST / 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292608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SQLAlchemy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17720" y="4206240"/>
            <a:ext cx="2926080" cy="12801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45262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A0A0A"/>
                </a:solidFill>
                <a:latin typeface="Segoe UI"/>
              </a:rPr>
              <a:t>MinIO (S3)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89204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вложения + аватары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8862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boto3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806440"/>
            <a:ext cx="1124712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Гибрид: сообщение отправляется REST-запросом (транзакция в БД), затем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рассылается через WebSocket подписчикам чата. Даже при обрыве WS ничего не теряется.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07  ·  БАЗА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8 таблиц, 3НФ, индексы под задачу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ТАБЛИЦЫ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14600"/>
            <a:ext cx="3657600" cy="3200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0A0A0A"/>
                </a:solidFill>
                <a:latin typeface="Consolas"/>
              </a:rPr>
              <a:t>— users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0A0A0A"/>
                </a:solidFill>
                <a:latin typeface="Consolas"/>
              </a:rPr>
              <a:t>— chats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0A0A0A"/>
                </a:solidFill>
                <a:latin typeface="Consolas"/>
              </a:rPr>
              <a:t>— chat_members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0A0A0A"/>
                </a:solidFill>
                <a:latin typeface="Consolas"/>
              </a:rPr>
              <a:t>— messages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0A0A0A"/>
                </a:solidFill>
                <a:latin typeface="Consolas"/>
              </a:rPr>
              <a:t>— message_status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0A0A0A"/>
                </a:solidFill>
                <a:latin typeface="Consolas"/>
              </a:rPr>
              <a:t>— attachments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0A0A0A"/>
                </a:solidFill>
                <a:latin typeface="Consolas"/>
              </a:rPr>
              <a:t>— refresh_tokens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0A0A0A"/>
                </a:solidFill>
                <a:latin typeface="Consolas"/>
              </a:rPr>
              <a:t>— audit_log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148840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КЛЮЧЕВЫЕ ИНДЕКСЫ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2514600"/>
            <a:ext cx="713232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(chat_id, id DESC) на messages — пагинация «вверх» O(log n)</a:t>
            </a:r>
          </a:p>
          <a:p>
            <a:pPr algn="l">
              <a:lnSpc>
                <a:spcPct val="14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GIN to_tsvector('russian', text) на messages — FTS с русской морфологией</a:t>
            </a:r>
          </a:p>
          <a:p>
            <a:pPr algn="l">
              <a:lnSpc>
                <a:spcPct val="14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(user_id) на chat_members — быстрая выборка «мои чаты»</a:t>
            </a:r>
          </a:p>
          <a:p>
            <a:pPr algn="l">
              <a:lnSpc>
                <a:spcPct val="14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UNIQUE (chat_id, client_msg_id) — механизм идемпотентности</a:t>
            </a:r>
          </a:p>
          <a:p>
            <a:pPr algn="l">
              <a:lnSpc>
                <a:spcPct val="14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UNIQUE token_hash на refresh_tokens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8932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52525B"/>
                </a:solidFill>
                <a:latin typeface="Segoe UI"/>
              </a:rPr>
              <a:t>ER-диаграмма — в приложении А отчёта (docs/er.png).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08  ·  ПОЛНОТЕКСТОВЫЙ ПОИСК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От LIKE к GIN + русскому словарю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148840"/>
            <a:ext cx="5394960" cy="19202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2860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БЫЛО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60604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A0A0A"/>
                </a:solidFill>
                <a:latin typeface="Consolas"/>
              </a:rPr>
              <a:t>WHERE LOWER(text) LIKE '%q%'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08960"/>
            <a:ext cx="5120640" cy="1005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2525B"/>
                </a:solidFill>
                <a:latin typeface="Segoe UI"/>
              </a:rPr>
              <a:t>— полный скан таблицы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52525B"/>
                </a:solidFill>
                <a:latin typeface="Segoe UI"/>
              </a:rPr>
              <a:t>— не находит другие словоформы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148840"/>
            <a:ext cx="5394960" cy="192024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148840"/>
            <a:ext cx="35000" cy="192024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2860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66FF"/>
                </a:solidFill>
                <a:latin typeface="Consolas"/>
              </a:rPr>
              <a:t>СТАЛО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60604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Consolas"/>
              </a:rPr>
              <a:t>to_tsvector('russian') @@ plainto_tsquery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108960"/>
            <a:ext cx="5120640" cy="1005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0A0A0A"/>
                </a:solidFill>
                <a:latin typeface="Segoe UI"/>
              </a:rPr>
              <a:t>— GIN-индекс, никакого скана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0A0A0A"/>
                </a:solidFill>
                <a:latin typeface="Segoe UI"/>
              </a:rPr>
              <a:t>— стемминг: «обсуждать», «обсуждаю», «обсуждали»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0A0A0A"/>
                </a:solidFill>
                <a:latin typeface="Segoe UI"/>
              </a:rPr>
              <a:t>— ранжирование через ts_rank_cd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4348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ЗАПРОС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709160"/>
            <a:ext cx="11247120" cy="13716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800600"/>
            <a:ext cx="1097280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A0A0A"/>
                </a:solidFill>
                <a:latin typeface="Consolas"/>
              </a:rPr>
              <a:t>SELECT *,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A0A0A"/>
                </a:solidFill>
                <a:latin typeface="Consolas"/>
              </a:rPr>
              <a:t>       ts_rank_cd(to_tsvector('russian', text), plainto_tsquery('russian', :q)) AS rank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A0A0A"/>
                </a:solidFill>
                <a:latin typeface="Consolas"/>
              </a:rPr>
              <a:t>  FROM messages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A0A0A"/>
                </a:solidFill>
                <a:latin typeface="Consolas"/>
              </a:rPr>
              <a:t> WHERE chat_id = :chat_id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A0A0A"/>
                </a:solidFill>
                <a:latin typeface="Consolas"/>
              </a:rPr>
              <a:t>   AND to_tsvector('russian', text) @@ plainto_tsquery('russian', :q)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A0A0A"/>
                </a:solidFill>
                <a:latin typeface="Consolas"/>
              </a:rPr>
              <a:t> ORDER BY rank DESC, id DESC;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09  ·  АВТОРИЗАЦИЯ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JWT + refresh + ротация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148840"/>
            <a:ext cx="320040" cy="54864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21945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A0A0A"/>
                </a:solidFill>
                <a:latin typeface="Consolas"/>
              </a:rPr>
              <a:t>POST /auth/login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4688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пара access + refresh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926080"/>
            <a:ext cx="320040" cy="54864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2971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A0A0A"/>
                </a:solidFill>
                <a:latin typeface="Consolas"/>
              </a:rPr>
              <a:t>Bearer &lt;access&gt;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2461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все защищённые запросы, TTL 30 мин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703320"/>
            <a:ext cx="320040" cy="54864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7490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A0A0A"/>
                </a:solidFill>
                <a:latin typeface="Consolas"/>
              </a:rPr>
              <a:t>POST /auth/refresh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0233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старый refresh отзывается, выдаётся новая пара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480560"/>
            <a:ext cx="320040" cy="54864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5262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A0A0A"/>
                </a:solidFill>
                <a:latin typeface="Consolas"/>
              </a:rPr>
              <a:t>POST /auth/logout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8006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refresh помечается revoked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49440" y="2148840"/>
            <a:ext cx="5120640" cy="310896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0" y="228600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2606040"/>
            <a:ext cx="4754880" cy="2651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пароли — только bcrypt-хэш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refresh хранится SHA-256 хэшем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ротация: одноразовый refresh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row-lock (SELECT FOR UPDATE) от гонки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revoked_at помечает отозванные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TTL access = 30 мин · refresh = 30 дней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10  ·  ИНТЕРФЕЙС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Скриншоты работающего клиента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103120"/>
            <a:ext cx="5577840" cy="19202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312" y="2240280"/>
            <a:ext cx="1251135" cy="1417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370332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2525B"/>
                </a:solidFill>
                <a:latin typeface="Consolas"/>
              </a:rPr>
              <a:t>Форма входа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2103120"/>
            <a:ext cx="5577840" cy="19202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2-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3451" y="2240280"/>
            <a:ext cx="2946857" cy="1417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37960" y="370332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2525B"/>
                </a:solidFill>
                <a:latin typeface="Consolas"/>
              </a:rPr>
              <a:t>Основной экран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343400"/>
            <a:ext cx="5577840" cy="19202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3-prof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910" y="4480560"/>
            <a:ext cx="1297940" cy="1417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2960" y="59436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2525B"/>
                </a:solidFill>
                <a:latin typeface="Consolas"/>
              </a:rPr>
              <a:t>Профиль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37960" y="4343400"/>
            <a:ext cx="5577840" cy="19202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04-new-ch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1496" y="4480560"/>
            <a:ext cx="1430767" cy="1417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37960" y="59436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2525B"/>
                </a:solidFill>
                <a:latin typeface="Consolas"/>
              </a:rPr>
              <a:t>Создание группы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11  ·  ТЕСТИРОВАНИЕ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Автотесты + ручные сценарии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148840"/>
            <a:ext cx="3566160" cy="155448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148840"/>
            <a:ext cx="35000" cy="155448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3774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0A0A0A"/>
                </a:solidFill>
                <a:latin typeface="Segoe UI"/>
              </a:rPr>
              <a:t>7 /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97180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pytest-тестов проходят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2148840"/>
            <a:ext cx="3566160" cy="155448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17720" y="2148840"/>
            <a:ext cx="35000" cy="155448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23774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0A0A0A"/>
                </a:solidFill>
                <a:latin typeface="Segoe UI"/>
              </a:rPr>
              <a:t>4.5 сек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297180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полный прогон suite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2148840"/>
            <a:ext cx="3566160" cy="155448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12480" y="2148840"/>
            <a:ext cx="35000" cy="155448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3774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0A0A0A"/>
                </a:solidFill>
                <a:latin typeface="Segoe UI"/>
              </a:rPr>
              <a:t>6 сцен.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297180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ручных end-to-end проверок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0690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ЧТО ПОКРЫТО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434840"/>
            <a:ext cx="10972800" cy="1920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регистрация и вход по логину/паролю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неверный пароль → 401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создание чата, отправка, история, поиск (со стеммингом)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ограничение прав: reader не может отправлять — 403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ротация refresh: старый refresh становится недействительным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идемпотентность: повтор с тем же client_msg_id не создаёт дубликат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13 /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12  ·  РЕЗУЛЬТАТЫ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Что готово и что дальше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66FF"/>
                </a:solidFill>
                <a:latin typeface="Consolas"/>
              </a:rPr>
              <a:t>ГОТОВО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14600"/>
            <a:ext cx="109728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все 7 обязательных функциональных требований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4 дополнительных (статусы, вложения, refresh, идемпотентность)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полнотекстовый поиск на GIN + русской морфологии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автоматизированные тесты (7 / 7 проходят)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отчёт по ГОСТ 7.32-2017, ER-диаграмма, видеодемонстрация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177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НАПРАВЛЕНИЯ РАЗВИТИЯ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83480"/>
            <a:ext cx="1097280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внешний брокер (Redis Streams / NATS) для горизонтального масштабирования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оффлайн-уведомления, редактирование и удаление сообщений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E2E-шифрование, голосовые сообщения, WebRTC-видеозвонки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309360"/>
            <a:ext cx="1124712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400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66FF"/>
                </a:solidFill>
                <a:latin typeface="Consolas"/>
              </a:rPr>
              <a:t>github.com/lilwavedrill/messenger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