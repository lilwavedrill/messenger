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280160"/>
            <a:ext cx="360000" cy="3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97280" y="1280160"/>
            <a:ext cx="360000" cy="3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1780160"/>
            <a:ext cx="360000" cy="3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97280" y="1780160"/>
            <a:ext cx="360000" cy="3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834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B"/>
                </a:solidFill>
                <a:latin typeface="Consolas"/>
              </a:rPr>
              <a:t>ОТЧЁТ ПО ПРАКТИКЕ  ·  КЕЙС №1  ·  VK EDUCATION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0A0A0A"/>
                </a:solidFill>
                <a:latin typeface="Segoe UI"/>
              </a:rPr>
              <a:t>Мессенджер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480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52525B"/>
                </a:solidFill>
                <a:latin typeface="Segoe UI"/>
              </a:rPr>
              <a:t>Реалтайм-обмен сообщениями, вложения, полнотекстовый поиск.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5321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НИТУ МИСИС  ·  группа БИВТ-24-1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806440"/>
            <a:ext cx="100584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Мамонтов Иван Андреевич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Кривонос Никита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Руководитель практики: Чумакова М. Ю.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ПЛАН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О чём расскажем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512064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Актуальность и задачи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Требования и обзор аналогов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Стек технологий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Архитектура системы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94560"/>
            <a:ext cx="512064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База данных и полнотекстовый поиск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Модель авторизации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Интерфейс приложения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Тестирование и результаты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03  ·  АКТУАЛЬНОСТЬ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Почему это интересно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194560"/>
            <a:ext cx="3566160" cy="1645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194560"/>
            <a:ext cx="35000" cy="16459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450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A0A0A"/>
                </a:solidFill>
                <a:latin typeface="Segoe UI"/>
              </a:rPr>
              <a:t>Десятки млрд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06324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сообщений в день по всему миру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2194560"/>
            <a:ext cx="3566160" cy="1645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17720" y="2194560"/>
            <a:ext cx="35000" cy="16459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2450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A0A0A"/>
                </a:solidFill>
                <a:latin typeface="Segoe UI"/>
              </a:rPr>
              <a:t>&lt; 200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06324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цель по скорости доставки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194560"/>
            <a:ext cx="3566160" cy="1645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12480" y="2194560"/>
            <a:ext cx="35000" cy="16459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450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A0A0A"/>
                </a:solidFill>
                <a:latin typeface="Segoe UI"/>
              </a:rPr>
              <a:t>24 /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306324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круглосуточная доступность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29768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За внешней простотой чата стоят нетривиальные задачи: минимальная задержка,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устойчивость к обрывам сети, защита от дубликатов, быстрый поиск по истории.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Разработка учебного мессенджера позволяет разобрать эти задачи на практике.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04  ·  ЦЕЛЬ И ЗАДАЧИ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Что должно получиться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ЦЕЛЬ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105156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0A0A0A"/>
                </a:solidFill>
                <a:latin typeface="Segoe UI"/>
              </a:rPr>
              <a:t>Спроектировать и реализовать рабочий прототип мессенджера, отвечающий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0A0A0A"/>
                </a:solidFill>
                <a:latin typeface="Segoe UI"/>
              </a:rPr>
              <a:t>функциональным и нефункциональным требованиям технического задания.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69080"/>
            <a:ext cx="105156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проанализировать предметную область и требования ТЗ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спроектировать схему БД и API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реализовать серверную часть на Python + FastAPI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организовать реалтайм-обмен через WebSocket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построить авторизацию на JWT + refresh с ротацией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разработать веб-клиент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покрыть основные сценарии автотестами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05  ·  ТРЕБОВАНИЯ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11 функциональных + 6 нефункциональных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66FF"/>
                </a:solidFill>
                <a:latin typeface="Consolas"/>
              </a:rPr>
              <a:t>ОБЯЗАТЕЛЬНЫЕ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14600"/>
            <a:ext cx="548640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регистрация и вход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личные и групповые чаты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реалтайм-обмен сообщениями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история с пагинацией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управление участниками (owner)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поиск по сообщениям чата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разграничение ролей внутри чата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66FF"/>
                </a:solidFill>
                <a:latin typeface="Consolas"/>
              </a:rPr>
              <a:t>ДОПОЛНИТЕЛЬНО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514600"/>
            <a:ext cx="548640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статусы доставки (sent / delivered / read)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идемпотентность через client_msg_id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вложения через S3-совместимое хранилище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refresh-токены JWT с ротацией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аудит действий пользователей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623560"/>
            <a:ext cx="11247120" cy="6400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68756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2525B"/>
                </a:solidFill>
                <a:latin typeface="Consolas"/>
              </a:rPr>
              <a:t>НЕФУНКЦИОНАЛЬНЫЕ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Segoe UI"/>
              </a:rPr>
              <a:t>отзывчивость &lt; 200 мс  ·  надёжность  ·  безопасность  ·  порядок  ·  наблюдаемость  ·  совместимость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06  ·  ПОХОЖИЕ СЕРВИСЫ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На что мы ориентировались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0A0A"/>
                </a:solidFill>
                <a:latin typeface="Segoe UI"/>
              </a:rPr>
              <a:t>Telegram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313432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2525B"/>
                </a:solidFill>
                <a:latin typeface="Segoe UI"/>
              </a:rPr>
              <a:t>личные и групповые чаты, история, поиск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0A0A"/>
                </a:solidFill>
                <a:latin typeface="Segoe UI"/>
              </a:rPr>
              <a:t>WhatsApp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953512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2525B"/>
                </a:solidFill>
                <a:latin typeface="Segoe UI"/>
              </a:rPr>
              <a:t>мобильный обмен, статусы прочтения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0A0A"/>
                </a:solidFill>
                <a:latin typeface="Segoe UI"/>
              </a:rPr>
              <a:t>Discord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593592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2525B"/>
                </a:solidFill>
                <a:latin typeface="Segoe UI"/>
              </a:rPr>
              <a:t>групповые каналы, живая переписка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0A0A"/>
                </a:solidFill>
                <a:latin typeface="Segoe UI"/>
              </a:rPr>
              <a:t>VK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4233672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2525B"/>
                </a:solidFill>
                <a:latin typeface="Segoe UI"/>
              </a:rPr>
              <a:t>web-версия и мобильное приложение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846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0A0A"/>
                </a:solidFill>
                <a:latin typeface="Segoe UI"/>
              </a:rPr>
              <a:t>Slack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873752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2525B"/>
                </a:solidFill>
                <a:latin typeface="Segoe UI"/>
              </a:rPr>
              <a:t>рабочие чаты, роли и права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715000"/>
            <a:ext cx="1124712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Мы посмотрели, какие функции есть у популярных мессенджеров,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и собрали свой прототип с тем же набором базовых возможностей.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07  ·  СТЕК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Технологии и почему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14884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14884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860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Python 3.13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51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серверный язык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60" y="214884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37960" y="214884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22860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FastAPI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651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REST + WebSocket в одном процессе, авто-OpenAPI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24612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24612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3832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SQLAlchemy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7490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ORM, синхронный режим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60" y="324612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37960" y="324612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3832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PostgreSQL 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37490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транзакции, JSONB, GIN-индексы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34340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34340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44805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MinIO (S3)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48463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объектное хранилище для вложений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960" y="434340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37960" y="434340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44805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bcrypt + JWT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48463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хэши паролей, access + refresh токены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544068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2960" y="544068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55778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pytest + httpx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9436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автотесты API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60" y="544068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544068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12280" y="55778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HTML + CSS + JS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59436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клиент без сборщика и без фреймворков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08  ·  АРХИТЕКТУРА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Трёхзвенная схема + S3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468880"/>
            <a:ext cx="2926080" cy="12801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A0A0A"/>
                </a:solidFill>
                <a:latin typeface="Segoe UI"/>
              </a:rPr>
              <a:t>Клиент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546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HTML + CSS + JS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17720" y="2468880"/>
            <a:ext cx="2926080" cy="1280160"/>
          </a:xfrm>
          <a:prstGeom prst="rect">
            <a:avLst/>
          </a:prstGeom>
          <a:solidFill>
            <a:srgbClr val="F5F8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7889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A0A0A"/>
                </a:solidFill>
                <a:latin typeface="Segoe UI"/>
              </a:rPr>
              <a:t>Сервер приложения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1546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FastAPI + WS Hub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468880"/>
            <a:ext cx="2926080" cy="12801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7889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A0A0A"/>
                </a:solidFill>
                <a:latin typeface="Segoe UI"/>
              </a:rPr>
              <a:t>PostgreSQL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1546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8 таблиц + GIN 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92608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REST / 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292608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SQLAlchemy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17720" y="4206240"/>
            <a:ext cx="2926080" cy="12801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45262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A0A0A"/>
                </a:solidFill>
                <a:latin typeface="Segoe UI"/>
              </a:rPr>
              <a:t>MinIO (S3)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89204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вложения + аватары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8862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boto3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806440"/>
            <a:ext cx="1124712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Гибрид: сообщение отправляется REST-запросом (транзакция в БД), затем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рассылается через WebSocket подписчикам чата. Даже при обрыве WS ничего не теряется.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09  ·  БАЗА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Что и где мы храним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Пользователи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22199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логин, пароль (в виде хэша), имя, аватар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Чаты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22199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личные и групповые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7432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Участники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77063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кто в каком чате и с какой ролью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7432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Сообщения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277063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текст, автор, время, чат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29184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Статусы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31927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отправлено / доставлено / прочитано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9184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Вложения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331927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файлы и картинки, ссылка на S3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8404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Токены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386791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для входа и обновления сессии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8404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Журнал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386791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кто что делал в системе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2525B"/>
                </a:solidFill>
                <a:latin typeface="Segoe UI"/>
              </a:rPr>
              <a:t>Всего 8 таблиц в PostgreSQL. Полная схема — в отчёте (приложение А).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10  ·  ПОИСК ПО СООБЩЕНИЯМ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Умный поиск на русском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109728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Поиск устроен так, что находит сообщения даже в разных формах слова.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Например, по запросу «обсуждать» найдутся сообщения со словами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«обсуждаю», «обсуждали», «обсуждать» — то есть по любой словоформе.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023360"/>
            <a:ext cx="3566160" cy="15544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2062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Запрос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61772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Segoe UI"/>
              </a:rPr>
              <a:t>обсуждать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4023360"/>
            <a:ext cx="3566160" cy="155448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17720" y="4023360"/>
            <a:ext cx="35000" cy="155448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42062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Тоже найдёт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461772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обсуждаю, обсуждали, обсуждаем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4023360"/>
            <a:ext cx="3566160" cy="15544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42062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Как это работает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461772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Segoe UI"/>
              </a:rPr>
              <a:t>русский словарь 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11  ·  ВХОД И БЕЗОПАСНОСТЬ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Как защищены аккаунты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109728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Пользователь вводит логин и пароль — сервер выдаёт токен, с которым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клиент ходит по остальным запросам. Пароли никогда не хранятся в открытом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виде — только необратимо зашифрованными.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94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ЧТО СДЕЛАЛИ ДЛЯ БЕЗОПАСНОСТИ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60520"/>
            <a:ext cx="109728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пароли хранятся в зашифрованном виде (bcrypt)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каждый запрос требует действующий токен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токен обновляется автоматически без повторного ввода пароля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выход из аккаунта отзывает все токены на сервере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в системе есть три роли: читатель, участник, владелец чата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12  ·  ИНТЕРФЕЙС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Форма входа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4237" y="1965960"/>
            <a:ext cx="3713046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6172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52525B"/>
                </a:solidFill>
                <a:latin typeface="Segoe UI"/>
              </a:rPr>
              <a:t>Регистрация и вход по логину и паролю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13  ·  ИНТЕРФЕЙС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Основной экран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2-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8004" y="1965960"/>
            <a:ext cx="8745512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6172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52525B"/>
                </a:solidFill>
                <a:latin typeface="Segoe UI"/>
              </a:rPr>
              <a:t>Список чатов слева, диалог справа, композер снизу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14  ·  ИНТЕРФЕЙС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Профиль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-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4784" y="1965960"/>
            <a:ext cx="3851951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6172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52525B"/>
                </a:solidFill>
                <a:latin typeface="Segoe UI"/>
              </a:rPr>
              <a:t>Смена отображаемого имени и загрузка аватара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15  ·  ИНТЕРФЕЙС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Создание группы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4-new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7686" y="1965960"/>
            <a:ext cx="4246147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6172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52525B"/>
                </a:solidFill>
                <a:latin typeface="Segoe UI"/>
              </a:rPr>
              <a:t>Групповые и личные чаты с добавлением участников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16  ·  КАК МЫ РАБОТАЛИ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Этапы проекта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221992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58568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19456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Разобрали ТЗ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221992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выделили обязательные и дополнительные функции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788920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825496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76148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Спроектировали схему БД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78892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8 таблиц, связи между ними, ER-диаграмма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355848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392424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328416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Написали сервер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3355848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регистрация, чаты, сообщения, WebSocket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922776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959352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895344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Сделали клиент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922776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одностраничное веб-приложение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489704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526280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446227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Добавили доп. функции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4489704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статусы прочтения, вложения, поиск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056632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093208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50292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Покрыли тестами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5056632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автоматические и ручные проверки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5623560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660136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20" y="559612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Оформили документацию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562356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отчёт по ГОСТ, скриншоты, видеодемо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17  ·  ТЕСТИРОВАНИЕ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Автотесты + ручные сценарии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148840"/>
            <a:ext cx="3566160" cy="155448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148840"/>
            <a:ext cx="35000" cy="155448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3774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0A0A0A"/>
                </a:solidFill>
                <a:latin typeface="Segoe UI"/>
              </a:rPr>
              <a:t>7 /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97180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pytest-тестов проходят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2148840"/>
            <a:ext cx="3566160" cy="155448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17720" y="2148840"/>
            <a:ext cx="35000" cy="155448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23774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0A0A0A"/>
                </a:solidFill>
                <a:latin typeface="Segoe UI"/>
              </a:rPr>
              <a:t>4.5 сек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297180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полный прогон suite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148840"/>
            <a:ext cx="3566160" cy="155448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12480" y="2148840"/>
            <a:ext cx="35000" cy="155448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3774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0A0A0A"/>
                </a:solidFill>
                <a:latin typeface="Segoe UI"/>
              </a:rPr>
              <a:t>6 сцен.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297180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ручных end-to-end проверок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0690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ЧТО ПОКРЫТО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434840"/>
            <a:ext cx="10972800" cy="1920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регистрация и вход по логину/паролю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неверный пароль → 401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создание чата, отправка, история, поиск (со стеммингом)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ограничение прав: reader не может отправлять — 403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ротация refresh: старый refresh становится недействительным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идемпотентность: повтор с тем же client_msg_id не создаёт дубликат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18  ·  РЕЗУЛЬТАТЫ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Что готово и что дальше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66FF"/>
                </a:solidFill>
                <a:latin typeface="Consolas"/>
              </a:rPr>
              <a:t>ГОТОВО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14600"/>
            <a:ext cx="109728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все 7 обязательных функциональных требований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4 дополнительных (статусы, вложения, refresh, идемпотентность)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полнотекстовый поиск на GIN + русской морфологии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автоматизированные тесты (7 / 7 проходят)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отчёт по ГОСТ 7.32-2017, ER-диаграмма, видеодемонстрация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177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НАПРАВЛЕНИЯ РАЗВИТИЯ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83480"/>
            <a:ext cx="10972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внешний брокер (Redis Streams / NATS) для горизонтального масштабирования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оффлайн-уведомления, редактирование и удаление сообщений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E2E-шифрование, голосовые сообщения, WebRTC-видеозвонки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309360"/>
            <a:ext cx="1124712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400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66FF"/>
                </a:solidFill>
                <a:latin typeface="Consolas"/>
              </a:rPr>
              <a:t>github.com/lilwavedrill/messenger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Мессенджер</dc:title>
  <dc:subject>Отчёт по практике, кейс № 1 «Мессенджер»</dc:subject>
  <dc:creator>Мамонтов И. А., Кривонос Н.</dc:creator>
  <cp:keywords>мессенджер, WebSocket, PostgreSQL, FastAPI</cp:keywords>
  <dc:description/>
  <cp:lastModifiedBy>Мамонтов И. А.</cp:lastModifiedBy>
  <cp:revision>1</cp:revision>
  <dcterms:created xsi:type="dcterms:W3CDTF">2026-07-16T23:43:27Z</dcterms:created>
  <dcterms:modified xsi:type="dcterms:W3CDTF">2026-07-16T23:43:27Z</dcterms:modified>
  <cp:category>Учебная практика</cp:category>
</cp:coreProperties>
</file>