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5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1280160"/>
            <a:ext cx="360000" cy="3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97280" y="1280160"/>
            <a:ext cx="360000" cy="3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780160"/>
            <a:ext cx="360000" cy="3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7280" y="1780160"/>
            <a:ext cx="360000" cy="3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2525B"/>
                </a:solidFill>
                <a:latin typeface="Consolas"/>
              </a:rPr>
              <a:t>ОТЧЁТ ПО ПРАКТИКЕ  ·  КЕЙС №1  ·  VK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0A0A0A"/>
                </a:solidFill>
                <a:latin typeface="Segoe UI"/>
              </a:rPr>
              <a:t>Мессенджер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2525B"/>
                </a:solidFill>
                <a:latin typeface="Segoe UI"/>
              </a:rPr>
              <a:t>Реалтайм-обмен сообщениями, вложения, полнотекстовый поиск.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321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НИТУ МИСИС  ·  группа БИВТ-24-1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06440"/>
            <a:ext cx="10058400" cy="76277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A0A0A"/>
                </a:solidFill>
                <a:latin typeface="Segoe UI"/>
              </a:rPr>
              <a:t>Мамонтов Иван </a:t>
            </a:r>
            <a:r>
              <a:rPr sz="1300" b="0" dirty="0" err="1">
                <a:solidFill>
                  <a:srgbClr val="0A0A0A"/>
                </a:solidFill>
                <a:latin typeface="Segoe UI"/>
              </a:rPr>
              <a:t>Андреевич</a:t>
            </a:r>
            <a:endParaRPr sz="1300" b="0" dirty="0">
              <a:solidFill>
                <a:srgbClr val="0A0A0A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300" b="0" dirty="0" err="1">
                <a:solidFill>
                  <a:srgbClr val="0A0A0A"/>
                </a:solidFill>
                <a:latin typeface="Segoe UI"/>
              </a:rPr>
              <a:t>Кривонос</a:t>
            </a:r>
            <a:r>
              <a:rPr sz="1300" b="0" dirty="0">
                <a:solidFill>
                  <a:srgbClr val="0A0A0A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Segoe UI"/>
              </a:rPr>
              <a:t>Никита</a:t>
            </a:r>
            <a:r>
              <a:rPr lang="ru-RU" sz="1300" b="0" dirty="0">
                <a:solidFill>
                  <a:srgbClr val="0A0A0A"/>
                </a:solidFill>
                <a:latin typeface="Segoe UI"/>
              </a:rPr>
              <a:t> Николаевич</a:t>
            </a:r>
            <a:endParaRPr sz="1300" b="0" dirty="0">
              <a:solidFill>
                <a:srgbClr val="0A0A0A"/>
              </a:solidFill>
              <a:latin typeface="Segoe UI"/>
            </a:endParaRPr>
          </a:p>
          <a:p>
            <a:pPr algn="l">
              <a:lnSpc>
                <a:spcPct val="115000"/>
              </a:lnSpc>
            </a:pPr>
            <a:r>
              <a:rPr sz="1300" b="0" dirty="0" err="1">
                <a:solidFill>
                  <a:srgbClr val="0A0A0A"/>
                </a:solidFill>
                <a:latin typeface="Segoe UI"/>
              </a:rPr>
              <a:t>Руководитель</a:t>
            </a:r>
            <a:r>
              <a:rPr sz="1300" b="0" dirty="0">
                <a:solidFill>
                  <a:srgbClr val="0A0A0A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Segoe UI"/>
              </a:rPr>
              <a:t>практики</a:t>
            </a:r>
            <a:r>
              <a:rPr sz="1300" b="0" dirty="0">
                <a:solidFill>
                  <a:srgbClr val="0A0A0A"/>
                </a:solidFill>
                <a:latin typeface="Segoe UI"/>
              </a:rPr>
              <a:t>: </a:t>
            </a:r>
            <a:r>
              <a:rPr sz="1300" b="0" dirty="0" err="1">
                <a:solidFill>
                  <a:srgbClr val="0A0A0A"/>
                </a:solidFill>
                <a:latin typeface="Segoe UI"/>
              </a:rPr>
              <a:t>Чумакова</a:t>
            </a:r>
            <a:r>
              <a:rPr sz="1300" b="0" dirty="0">
                <a:solidFill>
                  <a:srgbClr val="0A0A0A"/>
                </a:solidFill>
                <a:latin typeface="Segoe UI"/>
              </a:rPr>
              <a:t> М. Ю.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ПЛАН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О чём расскажем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12064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0A0A0A"/>
                </a:solidFill>
                <a:latin typeface="Segoe UI"/>
              </a:rPr>
              <a:t>— Актуальность и задачи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0A0A0A"/>
                </a:solidFill>
                <a:latin typeface="Segoe UI"/>
              </a:rPr>
              <a:t>— Требования и обзор аналогов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0A0A0A"/>
                </a:solidFill>
                <a:latin typeface="Segoe UI"/>
              </a:rPr>
              <a:t>— Стек технологий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0A0A0A"/>
                </a:solidFill>
                <a:latin typeface="Segoe UI"/>
              </a:rPr>
              <a:t>— Архитектура системы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512064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0A0A0A"/>
                </a:solidFill>
                <a:latin typeface="Segoe UI"/>
              </a:rPr>
              <a:t>— База данных и полнотекстовый поиск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0A0A0A"/>
                </a:solidFill>
                <a:latin typeface="Segoe UI"/>
              </a:rPr>
              <a:t>— Модель авторизации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0A0A0A"/>
                </a:solidFill>
                <a:latin typeface="Segoe UI"/>
              </a:rPr>
              <a:t>— Интерфейс приложения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0A0A0A"/>
                </a:solidFill>
                <a:latin typeface="Segoe UI"/>
              </a:rPr>
              <a:t>— Тестирование и результаты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01  ·  АКТУАЛЬНОСТЬ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Почему это интересно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3566160" cy="1645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194560"/>
            <a:ext cx="35000" cy="16459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45059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Segoe UI"/>
              </a:rPr>
              <a:t>100+ млрд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632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сообщений в день по всему миру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194560"/>
            <a:ext cx="3566160" cy="1645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17720" y="2194560"/>
            <a:ext cx="35000" cy="16459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245059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Segoe UI"/>
              </a:rPr>
              <a:t>&lt; 200 мс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632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цель по скорости доставки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194560"/>
            <a:ext cx="3566160" cy="1645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0" y="2194560"/>
            <a:ext cx="35000" cy="16459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245059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A0A0A"/>
                </a:solidFill>
                <a:latin typeface="Segoe UI"/>
              </a:rPr>
              <a:t>24 /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0632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круглосуточная доступность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За внешней простотой чата стоят нетривиальные задачи: минимальная задержка,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устойчивость к обрывам сети, защита от дубликатов, быстрый поиск по истории.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Разработка учебного мессенджера позволяет разобрать эти задачи на практике.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02  ·  ЦЕЛЬ И 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Что должно получиться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ЦЕЛЬ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0A0A0A"/>
                </a:solidFill>
                <a:latin typeface="Segoe UI"/>
              </a:rPr>
              <a:t>Спроектировать и реализовать рабочий прототип мессенджера, отвечающий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0A0A0A"/>
                </a:solidFill>
                <a:latin typeface="Segoe UI"/>
              </a:rPr>
              <a:t>функциональным и нефункциональным требованиям технического задания.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105156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— проанализировать предметную область и требования ТЗ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— спроектировать схему БД и API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— реализовать серверную часть на Python + FastAPI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— организовать реалтайм-обмен через WebSocket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— построить авторизацию на JWT + refresh с ротацией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— разработать веб-клиент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— покрыть основные сценарии автотестами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03  ·  ТРЕБОВАНИЯ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11 функциональных + 6 нефункциональных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066FF"/>
                </a:solidFill>
                <a:latin typeface="Consolas"/>
              </a:rPr>
              <a:t>ОБЯЗАТЕЛЬНЫЕ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4864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регистрация и вход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личные и групповые чаты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реалтайм-обмен сообщениями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история с пагинацией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управление участниками (owner)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поиск по сообщениям чата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разграничение ролей внутри чата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066FF"/>
                </a:solidFill>
                <a:latin typeface="Consolas"/>
              </a:rPr>
              <a:t>ДОПОЛНИТЕЛЬНО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54864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статусы доставки (sent / delivered / read)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идемпотентность через client_msg_id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вложения через S3-совместимое хранилище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refresh-токены JWT с ротацией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аудит действий пользователей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623560"/>
            <a:ext cx="112471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68756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2525B"/>
                </a:solidFill>
                <a:latin typeface="Consolas"/>
              </a:rPr>
              <a:t>НЕФУНКЦИОНАЛЬНЫЕ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9436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Segoe UI"/>
              </a:rPr>
              <a:t>отзывчивость &lt; 200 мс  ·  надёжность  ·  безопасность  ·  порядок  ·  наблюдаемость  ·  совместимость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04  ·  ПОХОЖИЕ СЕРВИСЫ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На что мы ориентировались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egoe UI"/>
              </a:rPr>
              <a:t>Telegram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13432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2525B"/>
                </a:solidFill>
                <a:latin typeface="Segoe UI"/>
              </a:rPr>
              <a:t>личные и групповые чаты, история, поиск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egoe UI"/>
              </a:rPr>
              <a:t>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53512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2525B"/>
                </a:solidFill>
                <a:latin typeface="Segoe UI"/>
              </a:rPr>
              <a:t>мобильный обмен, статусы прочтения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egoe UI"/>
              </a:rPr>
              <a:t>Discord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93592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2525B"/>
                </a:solidFill>
                <a:latin typeface="Segoe UI"/>
              </a:rPr>
              <a:t>групповые каналы, живая переписка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egoe UI"/>
              </a:rPr>
              <a:t>VK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33672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2525B"/>
                </a:solidFill>
                <a:latin typeface="Segoe UI"/>
              </a:rPr>
              <a:t>web-версия и мобильное приложение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Segoe UI"/>
              </a:rPr>
              <a:t>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873752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2525B"/>
                </a:solidFill>
                <a:latin typeface="Segoe UI"/>
              </a:rPr>
              <a:t>рабочие чаты, роли и права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Мы посмотрели, какие функции есть у популярных мессенджеров,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и собрали свой прототип с тем же набором базовых возможностей.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05  ·  СТЕК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Технологии и почему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55778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35000" cy="9601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egoe UI"/>
              </a:rPr>
              <a:t>Python 3.13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Segoe UI"/>
              </a:rPr>
              <a:t>серверный язык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148840"/>
            <a:ext cx="55778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2148840"/>
            <a:ext cx="35000" cy="9601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22860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egoe UI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517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Segoe UI"/>
              </a:rPr>
              <a:t>REST + WebSocket в одном процессе, авто-OpenAPI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46120"/>
            <a:ext cx="55778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3246120"/>
            <a:ext cx="35000" cy="9601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3832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egoe UI"/>
              </a:rPr>
              <a:t>SQLAlchemy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490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Segoe UI"/>
              </a:rPr>
              <a:t>ORM, синхронный режим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246120"/>
            <a:ext cx="55778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37960" y="3246120"/>
            <a:ext cx="35000" cy="9601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33832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egoe UI"/>
              </a:rPr>
              <a:t>PostgreSQL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7490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Segoe UI"/>
              </a:rPr>
              <a:t>транзакции, JSONB, GIN-индексы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43400"/>
            <a:ext cx="55778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" y="4343400"/>
            <a:ext cx="35000" cy="9601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4805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egoe UI"/>
              </a:rPr>
              <a:t>MinIO (S3)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463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Segoe UI"/>
              </a:rPr>
              <a:t>объектное хранилище для вложений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4343400"/>
            <a:ext cx="55778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37960" y="4343400"/>
            <a:ext cx="35000" cy="9601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44805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egoe UI"/>
              </a:rPr>
              <a:t>bcrypt + JWT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8463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Segoe UI"/>
              </a:rPr>
              <a:t>хэши паролей, access + refresh токены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440680"/>
            <a:ext cx="55778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" y="5440680"/>
            <a:ext cx="35000" cy="9601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7280" y="55778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egoe UI"/>
              </a:rPr>
              <a:t>pytest + httpx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9436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Segoe UI"/>
              </a:rPr>
              <a:t>автотесты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440680"/>
            <a:ext cx="557784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37960" y="5440680"/>
            <a:ext cx="35000" cy="9601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12280" y="55778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Segoe UI"/>
              </a:rPr>
              <a:t>HTML + CSS + 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59436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Segoe UI"/>
              </a:rPr>
              <a:t>клиент без сборщика и без фреймворков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06  ·  АРХИТЕКТУРА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Трёхзвенная схема + S3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468880"/>
            <a:ext cx="2926080" cy="12801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Segoe UI"/>
              </a:rPr>
              <a:t>Клиент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2525B"/>
                </a:solidFill>
                <a:latin typeface="Consolas"/>
              </a:rPr>
              <a:t>HTML + CSS + 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468880"/>
            <a:ext cx="2926080" cy="1280160"/>
          </a:xfrm>
          <a:prstGeom prst="rect">
            <a:avLst/>
          </a:prstGeom>
          <a:solidFill>
            <a:srgbClr val="F5F8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Segoe UI"/>
              </a:rPr>
              <a:t>Сервер приложения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546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2525B"/>
                </a:solidFill>
                <a:latin typeface="Consolas"/>
              </a:rPr>
              <a:t>FastAPI + WS 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468880"/>
            <a:ext cx="2926080" cy="12801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Segoe UI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546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2525B"/>
                </a:solidFill>
                <a:latin typeface="Consolas"/>
              </a:rPr>
              <a:t>8 таблиц + GIN 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92608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2525B"/>
                </a:solidFill>
                <a:latin typeface="Consolas"/>
              </a:rPr>
              <a:t>REST / 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92608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2525B"/>
                </a:solidFill>
                <a:latin typeface="Consolas"/>
              </a:rPr>
              <a:t>SQLAlchemy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4206240"/>
            <a:ext cx="2926080" cy="12801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45262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Segoe UI"/>
              </a:rPr>
              <a:t>MinIO (S3)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892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2525B"/>
                </a:solidFill>
                <a:latin typeface="Consolas"/>
              </a:rPr>
              <a:t>вложения + аватары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886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2525B"/>
                </a:solidFill>
                <a:latin typeface="Consolas"/>
              </a:rPr>
              <a:t>boto3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A0A0A"/>
                </a:solidFill>
                <a:latin typeface="Segoe UI"/>
              </a:rPr>
              <a:t>Гибрид: сообщение отправляется REST-запросом (транзакция в БД), затем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A0A0A"/>
                </a:solidFill>
                <a:latin typeface="Segoe UI"/>
              </a:rPr>
              <a:t>рассылается через WebSocket подписчикам чата. Даже при обрыве WS ничего не теряется.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07  ·  БАЗА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Что и где мы храним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Пользователи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219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логин, пароль (в виде хэша), имя, аватар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Чаты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2219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личные и групповые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Участники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706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кто в каком чате и с какой ролью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Сообщения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7706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текст, автор, время, чат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Статусы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1927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отправлено / доставлено / прочитано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Вложения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31927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файлы и картинки, ссылка на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Токены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6791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для входа и обновления сессии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40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Журнал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86791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кто что делал в системе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2525B"/>
                </a:solidFill>
                <a:latin typeface="Segoe UI"/>
              </a:rPr>
              <a:t>Всего 8 таблиц в PostgreSQL. Полная схема — в отчёте (приложение А).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08  ·  ПОИСК ПО СООБЩЕНИЯМ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Умный поиск на русском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Поиск устроен так, что находит сообщения даже в разных формах слова.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Например, по запросу «обсуждать» найдутся сообщения со словами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«обсуждаю», «обсуждали», «обсуждать» — то есть по любой словоформе.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23360"/>
            <a:ext cx="356616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Запрос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Segoe UI"/>
              </a:rPr>
              <a:t>обсуждать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4023360"/>
            <a:ext cx="3566160" cy="15544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17720" y="4023360"/>
            <a:ext cx="35000" cy="155448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4206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Тоже найдёт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617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обсуждаю, обсуждали, обсуждаем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4023360"/>
            <a:ext cx="356616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4206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Как это работает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617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Segoe UI"/>
              </a:rPr>
              <a:t>русский словарь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09  ·  ВХОД И БЕЗОПАСНОСТЬ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Как защищены аккаунты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Пользователь вводит логин и пароль — сервер выдаёт токен, с которым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клиент ходит по остальным запросам. Пароли никогда не хранятся в открытом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0A0A0A"/>
                </a:solidFill>
                <a:latin typeface="Segoe UI"/>
              </a:rPr>
              <a:t>виде — только необратимо зашифрованными.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ЧТО СДЕЛАЛИ ДЛЯ БЕЗОПАСНОСТИ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9728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пароли хранятся в зашифрованном виде (bcrypt)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каждый запрос требует действующий токен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токен обновляется автоматически без повторного ввода пароля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выход из аккаунта отзывает все токены на сервере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в системе есть три роли: читатель, участник, владелец чата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10  ·  ИНТЕРФЕЙС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Скриншоты работающего клиента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55778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312" y="2240280"/>
            <a:ext cx="1251135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37033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2525B"/>
                </a:solidFill>
                <a:latin typeface="Consolas"/>
              </a:rPr>
              <a:t>Форма входа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103120"/>
            <a:ext cx="55778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2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451" y="2240280"/>
            <a:ext cx="2946857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60" y="37033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2525B"/>
                </a:solidFill>
                <a:latin typeface="Consolas"/>
              </a:rPr>
              <a:t>Основной экран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43400"/>
            <a:ext cx="55778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03-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910" y="4480560"/>
            <a:ext cx="1297940" cy="1417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594360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2525B"/>
                </a:solidFill>
                <a:latin typeface="Consolas"/>
              </a:rPr>
              <a:t>Профиль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4343400"/>
            <a:ext cx="55778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04-new-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496" y="4480560"/>
            <a:ext cx="1430767" cy="1417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60" y="594360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2525B"/>
                </a:solidFill>
                <a:latin typeface="Consolas"/>
              </a:rPr>
              <a:t>Создание группы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2525B"/>
                </a:solidFill>
                <a:latin typeface="Consolas"/>
              </a:rPr>
              <a:t>1</a:t>
            </a:r>
            <a:r>
              <a:rPr lang="en-US" sz="1100" b="0" i="0" dirty="0">
                <a:solidFill>
                  <a:srgbClr val="52525B"/>
                </a:solidFill>
                <a:latin typeface="Consolas"/>
              </a:rPr>
              <a:t>1</a:t>
            </a:r>
            <a:r>
              <a:rPr sz="1100" b="0" i="0" dirty="0">
                <a:solidFill>
                  <a:srgbClr val="52525B"/>
                </a:solidFill>
                <a:latin typeface="Consolas"/>
              </a:rPr>
              <a:t>  ·  КАК МЫ РАБОТАЛИ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Этапы проекта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221992"/>
            <a:ext cx="384048" cy="38404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58568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945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Разобрали ТЗ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22199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выделили обязательные и дополнительные функции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825496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6148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Спроектировали схему БД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7889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8 таблиц, связи между ними, ER-диаграмма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355848"/>
            <a:ext cx="384048" cy="38404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392424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28416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Написали сервер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355848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регистрация, чаты, сообщения, WebSocket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922776"/>
            <a:ext cx="384048" cy="38404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959352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895344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Сделали клиент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922776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одностраничное веб-приложение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489704"/>
            <a:ext cx="384048" cy="38404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62272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Добавили доп. функции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48970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статусы прочтения, вложения, поиск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093208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02920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Покрыли тестами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05663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автоматические и ручные проверки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623560"/>
            <a:ext cx="384048" cy="38404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660136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59612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Segoe UI"/>
              </a:rPr>
              <a:t>Оформили документацию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62356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отчёт по ГОСТ, скриншоты, видеодемо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2525B"/>
                </a:solidFill>
                <a:latin typeface="Consolas"/>
              </a:rPr>
              <a:t>1</a:t>
            </a:r>
            <a:r>
              <a:rPr lang="en-US" sz="1100" b="0" i="0" dirty="0">
                <a:solidFill>
                  <a:srgbClr val="52525B"/>
                </a:solidFill>
                <a:latin typeface="Consolas"/>
              </a:rPr>
              <a:t>2</a:t>
            </a:r>
            <a:r>
              <a:rPr sz="1100" b="0" i="0" dirty="0">
                <a:solidFill>
                  <a:srgbClr val="52525B"/>
                </a:solidFill>
                <a:latin typeface="Consolas"/>
              </a:rPr>
              <a:t>  ·  ТЕСТИРОВАНИЕ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Автотесты + ручные сценарии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3566160" cy="15544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35000" cy="155448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A0A0A"/>
                </a:solidFill>
                <a:latin typeface="Segoe UI"/>
              </a:rPr>
              <a:t>7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718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pytest-тестов проходят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148840"/>
            <a:ext cx="3566160" cy="15544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17720" y="2148840"/>
            <a:ext cx="35000" cy="155448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23774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A0A0A"/>
                </a:solidFill>
                <a:latin typeface="Segoe UI"/>
              </a:rPr>
              <a:t>4.5 сек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9718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полный прогон suite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148840"/>
            <a:ext cx="3566160" cy="155448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0" y="2148840"/>
            <a:ext cx="35000" cy="155448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23774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A0A0A"/>
                </a:solidFill>
                <a:latin typeface="Segoe UI"/>
              </a:rPr>
              <a:t>6 сцен.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9718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2525B"/>
                </a:solidFill>
                <a:latin typeface="Segoe UI"/>
              </a:rPr>
              <a:t>ручных end-to-end проверок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690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ЧТО ПОКРЫТО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109728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A0A0A"/>
                </a:solidFill>
                <a:latin typeface="Segoe UI"/>
              </a:rPr>
              <a:t>— регистрация и вход по логину/паролю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A0A0A"/>
                </a:solidFill>
                <a:latin typeface="Segoe UI"/>
              </a:rPr>
              <a:t>— неверный пароль → 401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A0A0A"/>
                </a:solidFill>
                <a:latin typeface="Segoe UI"/>
              </a:rPr>
              <a:t>— создание чата, отправка, история, поиск (со стеммингом)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A0A0A"/>
                </a:solidFill>
                <a:latin typeface="Segoe UI"/>
              </a:rPr>
              <a:t>— ограничение прав: reader не может отправлять — 403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A0A0A"/>
                </a:solidFill>
                <a:latin typeface="Segoe UI"/>
              </a:rPr>
              <a:t>— ротация refresh: старый refresh становится недействительным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A0A0A"/>
                </a:solidFill>
                <a:latin typeface="Segoe UI"/>
              </a:rPr>
              <a:t>— идемпотентность: повтор с тем же client_msg_id не создаёт дубликат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2525B"/>
                </a:solidFill>
                <a:latin typeface="Consolas"/>
              </a:rPr>
              <a:t>MESSENGER  ·  VK Education / Case #1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446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2525B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920" y="45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920" y="687200"/>
            <a:ext cx="160000" cy="160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2525B"/>
                </a:solidFill>
                <a:latin typeface="Consolas"/>
              </a:rPr>
              <a:t>1</a:t>
            </a:r>
            <a:r>
              <a:rPr lang="en-US" sz="1100" b="0" i="0" dirty="0">
                <a:solidFill>
                  <a:srgbClr val="52525B"/>
                </a:solidFill>
                <a:latin typeface="Consolas"/>
              </a:rPr>
              <a:t>3</a:t>
            </a:r>
            <a:r>
              <a:rPr sz="1100" b="0" i="0" dirty="0">
                <a:solidFill>
                  <a:srgbClr val="52525B"/>
                </a:solidFill>
                <a:latin typeface="Consolas"/>
              </a:rPr>
              <a:t>  ·  РЕЗУЛЬТАТЫ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Segoe UI"/>
              </a:rPr>
              <a:t>Что готово и что дальше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15568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066FF"/>
                </a:solidFill>
                <a:latin typeface="Consolas"/>
              </a:rPr>
              <a:t>ГОТОВО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9728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все 7 обязательных функциональных требований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4 дополнительных (статусы, вложения, refresh, идемпотентность)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полнотекстовый поиск на GIN + русской морфологии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автоматизированные тесты (7 / 7 проходят)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отчёт по ГОСТ 7.32-2017, ER-диаграмма, видеодемонстрация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2525B"/>
                </a:solidFill>
                <a:latin typeface="Consolas"/>
              </a:rPr>
              <a:t>НАПРАВЛЕНИЯ РАЗВИТИЯ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972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внешний брокер (Redis Streams / NATS) для горизонтального масштабирования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оффлайн-уведомления, редактирование и удаление сообщений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0A0A0A"/>
                </a:solidFill>
                <a:latin typeface="Segoe UI"/>
              </a:rPr>
              <a:t>— E2E-шифрование, голосовые сообщения, WebRTC-видеозвонки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309360"/>
            <a:ext cx="1124712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066FF"/>
                </a:solidFill>
                <a:latin typeface="Consolas"/>
              </a:rPr>
              <a:t>github.com/lilwavedrill/messenger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1117</Words>
  <Application>Microsoft Office PowerPoint</Application>
  <PresentationFormat>Широкоэкранный</PresentationFormat>
  <Paragraphs>230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Иван Мамонтов</dc:creator>
  <cp:keywords/>
  <dc:description>generated using python-pptx</dc:description>
  <cp:lastModifiedBy>Иван Мамонтов</cp:lastModifiedBy>
  <cp:revision>3</cp:revision>
  <dcterms:created xsi:type="dcterms:W3CDTF">2013-01-27T09:14:16Z</dcterms:created>
  <dcterms:modified xsi:type="dcterms:W3CDTF">2026-07-16T20:28:15Z</dcterms:modified>
  <cp:category/>
</cp:coreProperties>
</file>